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10972800"/>
  <p:notesSz cx="10972800" cy="14630400"/>
  <p:embeddedFontLs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5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4494133"/>
            <a:ext cx="75564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Шум сверхзвуковой струи: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543074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Предмет: Экология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6138386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Ваши данные: Мочульский Сергей ПС4-72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592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Масштаб проблемы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41897"/>
            <a:ext cx="13042821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Шум при старте ракеты — это мощное и потенциально опасное явление, требующее внимания.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07563"/>
            <a:ext cx="12390596" cy="69387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9588698"/>
            <a:ext cx="13042821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Мощность звука при старте ракеты достигает 200-220 дБ, что значительно превышает болевой порог в 120-130 дБ и шум реактивного самолета (140 дБ).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9116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Источники шума сверхзвуковой струи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8883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Шум ракеты возникает из двух основных источников, связанных с истечением сверхзвуковой струи из сопла.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24519"/>
            <a:ext cx="7556421" cy="1995011"/>
          </a:xfrm>
          <a:prstGeom prst="roundRect">
            <a:avLst>
              <a:gd name="adj" fmla="val 7333"/>
            </a:avLst>
          </a:prstGeom>
          <a:solidFill>
            <a:srgbClr val="FAF9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694039"/>
            <a:ext cx="7556421" cy="1219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779" y="4384358"/>
            <a:ext cx="680442" cy="68044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5852" y="4588431"/>
            <a:ext cx="272177" cy="2721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51084" y="5291495"/>
            <a:ext cx="344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Турбулентное смешение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1051084" y="5781913"/>
            <a:ext cx="704183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Низкочастотный шум, образующийся в области смешения горячих газов с окружающим воздухом.</a:t>
            </a:r>
            <a:endParaRPr lang="en-US" sz="1750" dirty="0"/>
          </a:p>
        </p:txBody>
      </p:sp>
      <p:sp>
        <p:nvSpPr>
          <p:cNvPr id="11" name="Shape 5"/>
          <p:cNvSpPr/>
          <p:nvPr/>
        </p:nvSpPr>
        <p:spPr>
          <a:xfrm>
            <a:off x="793790" y="7286506"/>
            <a:ext cx="7556421" cy="1995011"/>
          </a:xfrm>
          <a:prstGeom prst="roundRect">
            <a:avLst>
              <a:gd name="adj" fmla="val 7333"/>
            </a:avLst>
          </a:prstGeom>
          <a:solidFill>
            <a:srgbClr val="FAF9F5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7256026"/>
            <a:ext cx="7556421" cy="12192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1779" y="6946344"/>
            <a:ext cx="680442" cy="680442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5852" y="7150418"/>
            <a:ext cx="272177" cy="272177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051084" y="7853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Шоковые клетки</a:t>
            </a:r>
            <a:endParaRPr lang="en-US" sz="2200" dirty="0"/>
          </a:p>
        </p:txBody>
      </p:sp>
      <p:sp>
        <p:nvSpPr>
          <p:cNvPr id="16" name="Text 7"/>
          <p:cNvSpPr/>
          <p:nvPr/>
        </p:nvSpPr>
        <p:spPr>
          <a:xfrm>
            <a:off x="1051084" y="8343900"/>
            <a:ext cx="704183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Высокочастотный дискретный тон, возникающий из-за цепочки скачков уплотнения в сверхзвуковой струе.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8899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Воздействие на окружающую среду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6715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Шумовое воздействие от старта ракеты оказывает значительное влияние как на живую, так и на неживую природу.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090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Биота</a:t>
            </a:r>
            <a:endParaRPr lang="en-US" sz="2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5089446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0190" y="582656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Паника и стресс у животных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6620351"/>
            <a:ext cx="453628" cy="4536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0190" y="7357467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Нарушение слуха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8151257"/>
            <a:ext cx="453628" cy="4536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8888373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Смена ареала обитания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0342721" y="44090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Абиотическая среда</a:t>
            </a:r>
            <a:endParaRPr lang="en-US" sz="2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42721" y="5089446"/>
            <a:ext cx="453628" cy="4536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342721" y="582656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Повреждение конструкций</a:t>
            </a:r>
            <a:endParaRPr lang="en-US" sz="17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42721" y="6620351"/>
            <a:ext cx="453628" cy="4536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342721" y="7357467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Вибрация грунта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42721" y="8151257"/>
            <a:ext cx="453628" cy="45362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342721" y="8888373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Эрозия почвы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84433"/>
            <a:ext cx="102374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Как снижают шумовое воздействие?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4684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Инженеры разрабатывают и применяют различные методы для минимизации шумового загрязнения при запусках.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842153"/>
            <a:ext cx="4196358" cy="3046095"/>
          </a:xfrm>
          <a:prstGeom prst="roundRect">
            <a:avLst>
              <a:gd name="adj" fmla="val 312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487263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9EDF2"/>
          </a:solidFill>
          <a:ln/>
        </p:spPr>
      </p:sp>
      <p:sp>
        <p:nvSpPr>
          <p:cNvPr id="6" name="Text 4"/>
          <p:cNvSpPr/>
          <p:nvPr/>
        </p:nvSpPr>
        <p:spPr>
          <a:xfrm>
            <a:off x="2721888" y="49963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57798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Водяная завеса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6270308"/>
            <a:ext cx="368177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Массивные объемы воды распыляются для поглощения звуковой энергии и снижения шума на 15-20 дБ.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842153"/>
            <a:ext cx="4196358" cy="3046095"/>
          </a:xfrm>
          <a:prstGeom prst="roundRect">
            <a:avLst>
              <a:gd name="adj" fmla="val 312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487263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9EDF2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49963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5779889"/>
            <a:ext cx="28790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Газоотводный канал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6270308"/>
            <a:ext cx="368177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Специальные каналы отводят горячие газы и звук от стартовой площадки.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4842153"/>
            <a:ext cx="4196358" cy="3046095"/>
          </a:xfrm>
          <a:prstGeom prst="roundRect">
            <a:avLst>
              <a:gd name="adj" fmla="val 312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487263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9EDF2"/>
          </a:solidFill>
          <a:ln/>
        </p:spPr>
      </p:sp>
      <p:sp>
        <p:nvSpPr>
          <p:cNvPr id="16" name="Text 14"/>
          <p:cNvSpPr/>
          <p:nvPr/>
        </p:nvSpPr>
        <p:spPr>
          <a:xfrm>
            <a:off x="11568232" y="49963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97427" y="57798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Мониторинг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97427" y="6270308"/>
            <a:ext cx="368177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Постоянный контроль уровня шума и его распространения в окружающей среде.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7701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Выводы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819061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Шум сверхзвуковой струи является ключевым экологическим фактором, но современные технологии позволяют эффективно бороться с ним.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7545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0906" y="683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Ключевой фактор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7322820"/>
            <a:ext cx="342149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Шум сверхзвуковой струи — основной экологический вызов для космодромов.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35893" y="67545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73008" y="6832402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Эффективное подавление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73008" y="7677150"/>
            <a:ext cx="342149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Современные технологии, такие как водяная завеса, снижают уровень шума на 15-20 дБ.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77995" y="67545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15111" y="683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Баланс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15111" y="7322820"/>
            <a:ext cx="3421499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Инженерные решения и постоянный мониторинг помогают достичь баланса между освоением космоса и защитой экологии.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73454"/>
            <a:ext cx="83785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Инновации в снижении шума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2239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Помимо традиционных методов, активно исследуются новые подходы к уменьшению акустического воздействия.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517708"/>
            <a:ext cx="4196358" cy="3581519"/>
          </a:xfrm>
          <a:prstGeom prst="roundRect">
            <a:avLst>
              <a:gd name="adj" fmla="val 266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4752142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4939189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5659398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Акустические метаматериалы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6504146"/>
            <a:ext cx="372749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материалов, способных поглощать или рассеивать звуковые волны.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517708"/>
            <a:ext cx="4196358" cy="3581519"/>
          </a:xfrm>
          <a:prstGeom prst="roundRect">
            <a:avLst>
              <a:gd name="adj" fmla="val 266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96" y="4752142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4939189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96" y="5659398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Активное шумоподавление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51396" y="6504146"/>
            <a:ext cx="372749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противофазных звуковых волн для нейтрализации нежелательного шума.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40133" y="4517708"/>
            <a:ext cx="4196358" cy="3581519"/>
          </a:xfrm>
          <a:prstGeom prst="roundRect">
            <a:avLst>
              <a:gd name="adj" fmla="val 266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4752142"/>
            <a:ext cx="680442" cy="680442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4939189"/>
            <a:ext cx="306110" cy="30611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4568" y="5659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Оптимизация сопла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74568" y="6149816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Изменение геометрии сопла для снижения турбулентности и шума.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25547"/>
            <a:ext cx="87859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Влияние на здоровье человека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74488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Хотя космодромы обычно расположены вдали от населенных пунктов, шумовое воздействие может иметь последствия.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636776"/>
            <a:ext cx="460998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Кратковременные эффекты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6288881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Временная потеря слуха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70833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Стресс и тревога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7127796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Нарушение сна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636776"/>
            <a:ext cx="398478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Долговременные риски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6288881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Хронические проблемы со слухом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670833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Сердечно-сосудистые заболевания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7127796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Психологические расстройства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32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Будущее бесшумных запусков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70923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Стремление к устойчивому развитию космонавтики ведет к созданию более тихих и экологичных ракетных систем.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535341" y="4506397"/>
            <a:ext cx="30480" cy="4653082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6" name="Shape 3"/>
          <p:cNvSpPr/>
          <p:nvPr/>
        </p:nvSpPr>
        <p:spPr>
          <a:xfrm>
            <a:off x="6760012" y="474630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7" name="Shape 4"/>
          <p:cNvSpPr/>
          <p:nvPr/>
        </p:nvSpPr>
        <p:spPr>
          <a:xfrm>
            <a:off x="6280190" y="45063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5260" y="45489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669411" y="4584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2030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69411" y="5074682"/>
            <a:ext cx="6167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Внедрение активных систем шумоподавления на всех новых ракетах.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760012" y="644854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12" name="Shape 9"/>
          <p:cNvSpPr/>
          <p:nvPr/>
        </p:nvSpPr>
        <p:spPr>
          <a:xfrm>
            <a:off x="6280190" y="62086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62511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669411" y="6286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2040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9411" y="6776918"/>
            <a:ext cx="6167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полностью бесшумных двигателей нового поколения.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760012" y="815078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0190" y="79108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65260" y="795337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7669411" y="7988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2050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669411" y="8479155"/>
            <a:ext cx="6167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Космодромы как центры экологически чистых технологий.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2025-12-17T21:48:43Z</dcterms:created>
  <dcterms:modified xsi:type="dcterms:W3CDTF">2025-12-17T21:48:43Z</dcterms:modified>
</cp:coreProperties>
</file>